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- 02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– Koffee with Kernal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Vellore Institute of Technology, Vellore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Hariprannav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S – 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hariprannav2006@gmail.com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Pragadeeshwar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 S – pragadeeshwarrs@gmail.com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Mayur R Keni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mayur.keni3491@gmail.com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Nitin </a:t>
            </a:r>
            <a:r>
              <a:rPr lang="en-US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Yajatkumar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nitinconcepts@gmail.com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4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github.com/</a:t>
            </a:r>
            <a:r>
              <a:rPr lang="en-US" sz="14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pragadeeswarrs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smart_guided_troubleshooting_engine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301" name="S301"/>
          <p:cNvSpPr txBox="1"/>
          <p:nvPr/>
        </p:nvSpPr>
        <p:spPr>
          <a:xfrm>
            <a:off x="685800" y="1371600"/>
            <a:ext cx="10817352" cy="18288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txBody>
          <a:bodyPr wrap="square" lIns="365760" tIns="365760" rIns="365760" bIns="36576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>
                <a:solidFill>
                  <a:srgbClr val="D9D3F0"/>
                </a:solidFill>
                <a:latin typeface="Calibri"/>
                <a:cs typeface="Calibri"/>
              </a:rPr>
              <a:t>THEME ID 02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3800" b="1" i="0">
                <a:solidFill>
                  <a:srgbClr val="FFFFFF"/>
                </a:solidFill>
                <a:latin typeface="Calibri"/>
                <a:cs typeface="Calibri"/>
              </a:rPr>
              <a:t>Smart Guided Troubleshooting Engine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Calibri"/>
                <a:cs typeface="Calibri"/>
              </a:rPr>
              <a:t>Turn a vague, natural-language smartphone complaint into a structured, actionable recovery plan with native Samsung Bixby deeplinks.</a:t>
            </a:r>
          </a:p>
        </p:txBody>
      </p:sp>
      <p:sp>
        <p:nvSpPr>
          <p:cNvPr id="302" name="S302"/>
          <p:cNvSpPr txBox="1"/>
          <p:nvPr/>
        </p:nvSpPr>
        <p:spPr>
          <a:xfrm>
            <a:off x="685800" y="3611880"/>
            <a:ext cx="3319272" cy="23774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Vague complaint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700" b="0" i="0">
                <a:solidFill>
                  <a:srgbClr val="63637E"/>
                </a:solidFill>
                <a:latin typeface="Calibri"/>
                <a:cs typeface="Calibri"/>
              </a:rPr>
              <a:t>"My Wi-Fi keeps disconnecting and battery is draining fast"</a:t>
            </a:r>
          </a:p>
        </p:txBody>
      </p:sp>
      <p:sp>
        <p:nvSpPr>
          <p:cNvPr id="303" name="S303"/>
          <p:cNvSpPr txBox="1"/>
          <p:nvPr/>
        </p:nvSpPr>
        <p:spPr>
          <a:xfrm>
            <a:off x="4434840" y="3611880"/>
            <a:ext cx="3319272" cy="23774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Structured plan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700" b="0" i="0">
                <a:solidFill>
                  <a:srgbClr val="63637E"/>
                </a:solidFill>
                <a:latin typeface="Calibri"/>
                <a:cs typeface="Calibri"/>
              </a:rPr>
              <a:t>Grouped action cards, sorted auto → manual → critical</a:t>
            </a:r>
          </a:p>
        </p:txBody>
      </p:sp>
      <p:sp>
        <p:nvSpPr>
          <p:cNvPr id="304" name="S304"/>
          <p:cNvSpPr txBox="1"/>
          <p:nvPr/>
        </p:nvSpPr>
        <p:spPr>
          <a:xfrm>
            <a:off x="8183880" y="3611880"/>
            <a:ext cx="3319272" cy="23774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One-tap fix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700" b="0" i="0">
                <a:solidFill>
                  <a:srgbClr val="63637E"/>
                </a:solidFill>
                <a:latin typeface="Calibri"/>
                <a:cs typeface="Calibri"/>
              </a:rPr>
              <a:t>Each step opens the exact Settings screen via a deeplink</a:t>
            </a:r>
          </a:p>
        </p:txBody>
      </p:sp>
      <p:sp>
        <p:nvSpPr>
          <p:cNvPr id="305" name="S305"/>
          <p:cNvSpPr txBox="1"/>
          <p:nvPr/>
        </p:nvSpPr>
        <p:spPr>
          <a:xfrm>
            <a:off x="4023360" y="4617720"/>
            <a:ext cx="228600" cy="274320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06" name="S306"/>
          <p:cNvSpPr txBox="1"/>
          <p:nvPr/>
        </p:nvSpPr>
        <p:spPr>
          <a:xfrm>
            <a:off x="7772400" y="4617720"/>
            <a:ext cx="228600" cy="274320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307" name="S307"/>
          <p:cNvSpPr txBox="1"/>
          <p:nvPr/>
        </p:nvSpPr>
        <p:spPr>
          <a:xfrm>
            <a:off x="685800" y="1371600"/>
            <a:ext cx="3566160" cy="466344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5400" b="1" i="0">
                <a:solidFill>
                  <a:srgbClr val="FFFFFF"/>
                </a:solidFill>
                <a:latin typeface="Calibri"/>
                <a:cs typeface="Calibri"/>
              </a:rPr>
              <a:t>~15 min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000" b="0" i="0">
                <a:solidFill>
                  <a:srgbClr val="D9D3F0"/>
                </a:solidFill>
                <a:latin typeface="Calibri"/>
                <a:cs typeface="Calibri"/>
              </a:rPr>
              <a:t>per scenario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1500" b="0" i="0">
                <a:solidFill>
                  <a:srgbClr val="FFFFFF"/>
                </a:solidFill>
                <a:latin typeface="Calibri"/>
                <a:cs typeface="Calibri"/>
              </a:rPr>
              <a:t>agents manually translate a vague complaint into troubleshooting steps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200" b="1" i="0">
                <a:solidFill>
                  <a:srgbClr val="FFFFFF"/>
                </a:solidFill>
                <a:latin typeface="Calibri"/>
                <a:cs typeface="Calibri"/>
              </a:rPr>
              <a:t>× millions of calls</a:t>
            </a:r>
          </a:p>
        </p:txBody>
      </p:sp>
      <p:sp>
        <p:nvSpPr>
          <p:cNvPr id="308" name="S308"/>
          <p:cNvSpPr txBox="1"/>
          <p:nvPr/>
        </p:nvSpPr>
        <p:spPr>
          <a:xfrm>
            <a:off x="4572000" y="1371600"/>
            <a:ext cx="6931152" cy="14630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01168" tIns="201168" rIns="201168" bIns="20116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Existing solution: human agents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b="0" i="0">
                <a:solidFill>
                  <a:srgbClr val="63637E"/>
                </a:solidFill>
                <a:latin typeface="Calibri"/>
                <a:cs typeface="Calibri"/>
              </a:rPr>
              <a:t>Customer-service agents read the complaint, guess the root cause and hand-type steps. Slow, costly, and steps vary from agent to agent.</a:t>
            </a:r>
          </a:p>
        </p:txBody>
      </p:sp>
      <p:sp>
        <p:nvSpPr>
          <p:cNvPr id="309" name="S309"/>
          <p:cNvSpPr txBox="1"/>
          <p:nvPr/>
        </p:nvSpPr>
        <p:spPr>
          <a:xfrm>
            <a:off x="4572000" y="3017520"/>
            <a:ext cx="6931152" cy="14630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01168" tIns="201168" rIns="201168" bIns="20116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Existing solution: self-service menus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b="0" i="0">
                <a:solidFill>
                  <a:srgbClr val="63637E"/>
                </a:solidFill>
                <a:latin typeface="Calibri"/>
                <a:cs typeface="Calibri"/>
              </a:rPr>
              <a:t>Users still have to hunt through nested Settings menus themselves to find the right screen and toggle.</a:t>
            </a:r>
          </a:p>
        </p:txBody>
      </p:sp>
      <p:sp>
        <p:nvSpPr>
          <p:cNvPr id="310" name="S310"/>
          <p:cNvSpPr txBox="1"/>
          <p:nvPr/>
        </p:nvSpPr>
        <p:spPr>
          <a:xfrm>
            <a:off x="4572000" y="4663440"/>
            <a:ext cx="6931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201168" tIns="201168" rIns="201168" bIns="20116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The gap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b="0" i="0">
                <a:solidFill>
                  <a:srgbClr val="14142B"/>
                </a:solidFill>
                <a:latin typeface="Calibri"/>
                <a:cs typeface="Calibri"/>
              </a:rPr>
              <a:t>No instant path from “it’s broken” to the exact Settings screen, and no consistent, precondition-checked fix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311" name="S311"/>
          <p:cNvSpPr txBox="1"/>
          <p:nvPr/>
        </p:nvSpPr>
        <p:spPr>
          <a:xfrm>
            <a:off x="457200" y="1280160"/>
            <a:ext cx="1645920" cy="566928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1. Client</a:t>
            </a:r>
          </a:p>
        </p:txBody>
      </p:sp>
      <p:sp>
        <p:nvSpPr>
          <p:cNvPr id="312" name="S312"/>
          <p:cNvSpPr txBox="1"/>
          <p:nvPr/>
        </p:nvSpPr>
        <p:spPr>
          <a:xfrm>
            <a:off x="457200" y="1920240"/>
            <a:ext cx="1645920" cy="269748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One UI mobile web client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REST / curl consumers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Latency + deeplink buttons</a:t>
            </a:r>
          </a:p>
        </p:txBody>
      </p:sp>
      <p:sp>
        <p:nvSpPr>
          <p:cNvPr id="313" name="S313"/>
          <p:cNvSpPr txBox="1"/>
          <p:nvPr/>
        </p:nvSpPr>
        <p:spPr>
          <a:xfrm>
            <a:off x="2103120" y="1417320"/>
            <a:ext cx="228600" cy="292608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14" name="S314"/>
          <p:cNvSpPr txBox="1"/>
          <p:nvPr/>
        </p:nvSpPr>
        <p:spPr>
          <a:xfrm>
            <a:off x="2331720" y="1280160"/>
            <a:ext cx="1645920" cy="566928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2. FastAPI gateway</a:t>
            </a:r>
          </a:p>
        </p:txBody>
      </p:sp>
      <p:sp>
        <p:nvSpPr>
          <p:cNvPr id="315" name="S315"/>
          <p:cNvSpPr txBox="1"/>
          <p:nvPr/>
        </p:nvSpPr>
        <p:spPr>
          <a:xfrm>
            <a:off x="2331720" y="1920240"/>
            <a:ext cx="1645920" cy="269748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POST /v1/troubleshoot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Pydantic request validation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Async ASGI on Uvicorn</a:t>
            </a:r>
          </a:p>
        </p:txBody>
      </p:sp>
      <p:sp>
        <p:nvSpPr>
          <p:cNvPr id="316" name="S316"/>
          <p:cNvSpPr txBox="1"/>
          <p:nvPr/>
        </p:nvSpPr>
        <p:spPr>
          <a:xfrm>
            <a:off x="3977640" y="1417320"/>
            <a:ext cx="228600" cy="292608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17" name="S317"/>
          <p:cNvSpPr txBox="1"/>
          <p:nvPr/>
        </p:nvSpPr>
        <p:spPr>
          <a:xfrm>
            <a:off x="4206240" y="1280160"/>
            <a:ext cx="1645920" cy="566928"/>
          </a:xfrm>
          <a:prstGeom prst="roundRect">
            <a:avLst>
              <a:gd name="adj" fmla="val 12000"/>
            </a:avLst>
          </a:prstGeom>
          <a:solidFill>
            <a:srgbClr val="12805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3. Semantic cache</a:t>
            </a:r>
          </a:p>
        </p:txBody>
      </p:sp>
      <p:sp>
        <p:nvSpPr>
          <p:cNvPr id="318" name="S318"/>
          <p:cNvSpPr txBox="1"/>
          <p:nvPr/>
        </p:nvSpPr>
        <p:spPr>
          <a:xfrm>
            <a:off x="4206240" y="1920240"/>
            <a:ext cx="1645920" cy="269748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Tier 1: exact hash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Tier 2: token overlap (Jaccard ≥ 0.70)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Tier 3: MiniLM cosine ≥ 0.74</a:t>
            </a:r>
          </a:p>
        </p:txBody>
      </p:sp>
      <p:sp>
        <p:nvSpPr>
          <p:cNvPr id="319" name="S319"/>
          <p:cNvSpPr txBox="1"/>
          <p:nvPr/>
        </p:nvSpPr>
        <p:spPr>
          <a:xfrm>
            <a:off x="5852160" y="1417320"/>
            <a:ext cx="228600" cy="292608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20" name="S320"/>
          <p:cNvSpPr txBox="1"/>
          <p:nvPr/>
        </p:nvSpPr>
        <p:spPr>
          <a:xfrm>
            <a:off x="6080760" y="1280160"/>
            <a:ext cx="1645920" cy="56692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4. Context matcher</a:t>
            </a:r>
          </a:p>
        </p:txBody>
      </p:sp>
      <p:sp>
        <p:nvSpPr>
          <p:cNvPr id="321" name="S321"/>
          <p:cNvSpPr txBox="1"/>
          <p:nvPr/>
        </p:nvSpPr>
        <p:spPr>
          <a:xfrm>
            <a:off x="6080760" y="1920240"/>
            <a:ext cx="1645920" cy="269748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Punctuation-stripped, normalized tokens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Keyword-overlap domain boosts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Chroma + BM25 over 20 SIIS scenarios</a:t>
            </a:r>
          </a:p>
        </p:txBody>
      </p:sp>
      <p:sp>
        <p:nvSpPr>
          <p:cNvPr id="322" name="S322"/>
          <p:cNvSpPr txBox="1"/>
          <p:nvPr/>
        </p:nvSpPr>
        <p:spPr>
          <a:xfrm>
            <a:off x="7726680" y="1417320"/>
            <a:ext cx="228600" cy="292608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23" name="S323"/>
          <p:cNvSpPr txBox="1"/>
          <p:nvPr/>
        </p:nvSpPr>
        <p:spPr>
          <a:xfrm>
            <a:off x="7955280" y="1280160"/>
            <a:ext cx="1645920" cy="566928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5. LLM pipeline</a:t>
            </a:r>
          </a:p>
        </p:txBody>
      </p:sp>
      <p:sp>
        <p:nvSpPr>
          <p:cNvPr id="324" name="S324"/>
          <p:cNvSpPr txBox="1"/>
          <p:nvPr/>
        </p:nvSpPr>
        <p:spPr>
          <a:xfrm>
            <a:off x="7955280" y="1920240"/>
            <a:ext cx="1645920" cy="269748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Groq, OpenAI-compatible async client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Fact-anchored JSON extraction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8–10 query paraphrases + rule-based fallback</a:t>
            </a:r>
          </a:p>
        </p:txBody>
      </p:sp>
      <p:sp>
        <p:nvSpPr>
          <p:cNvPr id="325" name="S325"/>
          <p:cNvSpPr txBox="1"/>
          <p:nvPr/>
        </p:nvSpPr>
        <p:spPr>
          <a:xfrm>
            <a:off x="9601200" y="1417320"/>
            <a:ext cx="228600" cy="292608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26" name="S326"/>
          <p:cNvSpPr txBox="1"/>
          <p:nvPr/>
        </p:nvSpPr>
        <p:spPr>
          <a:xfrm>
            <a:off x="9829800" y="1280160"/>
            <a:ext cx="1645920" cy="56692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6. Deeplink + gate</a:t>
            </a:r>
          </a:p>
        </p:txBody>
      </p:sp>
      <p:sp>
        <p:nvSpPr>
          <p:cNvPr id="327" name="S327"/>
          <p:cNvSpPr txBox="1"/>
          <p:nvPr/>
        </p:nvSpPr>
        <p:spPr>
          <a:xfrm>
            <a:off x="9829800" y="1920240"/>
            <a:ext cx="1645920" cy="269748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BM25 + Chroma deeplink match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Preconditions injected</a:t>
            </a:r>
          </a:p>
          <a:p>
            <a:pPr marL="171450" indent="-171450" algn="l">
              <a:spcBef>
                <a:spcPts val="800"/>
              </a:spcBef>
              <a:buClr>
                <a:srgbClr val="6D28D9"/>
              </a:buClr>
              <a:buChar char="•"/>
            </a:pPr>
            <a:r>
              <a:rPr lang="en-US" sz="1250" b="0" i="0">
                <a:solidFill>
                  <a:srgbClr val="14142B"/>
                </a:solidFill>
                <a:latin typeface="Calibri"/>
                <a:cs typeface="Calibri"/>
              </a:rPr>
              <a:t>Gate G5 URL scrub, Blocks A1 / A2 / A5</a:t>
            </a:r>
          </a:p>
        </p:txBody>
      </p:sp>
      <p:sp>
        <p:nvSpPr>
          <p:cNvPr id="328" name="S328"/>
          <p:cNvSpPr txBox="1"/>
          <p:nvPr/>
        </p:nvSpPr>
        <p:spPr>
          <a:xfrm>
            <a:off x="6035040" y="4846320"/>
            <a:ext cx="5394960" cy="548640"/>
          </a:xfrm>
          <a:prstGeom prst="roundRect">
            <a:avLst>
              <a:gd name="adj" fmla="val 20000"/>
            </a:avLst>
          </a:prstGeom>
          <a:solidFill>
            <a:srgbClr val="12805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FFFFFF"/>
                </a:solidFill>
                <a:latin typeface="Calibri"/>
                <a:cs typeface="Calibri"/>
              </a:rPr>
              <a:t>Cache hit: </a:t>
            </a:r>
            <a:r>
              <a:rPr lang="en-US" sz="1300" b="0" i="0">
                <a:solidFill>
                  <a:srgbClr val="FFFFFF"/>
                </a:solidFill>
                <a:latin typeface="Calibri"/>
                <a:cs typeface="Calibri"/>
              </a:rPr>
              <a:t>returns stored plan, skips stages 4–6, 0.8 ms P50</a:t>
            </a:r>
          </a:p>
        </p:txBody>
      </p:sp>
      <p:sp>
        <p:nvSpPr>
          <p:cNvPr id="329" name="S329"/>
          <p:cNvSpPr txBox="1"/>
          <p:nvPr/>
        </p:nvSpPr>
        <p:spPr>
          <a:xfrm>
            <a:off x="457200" y="4846320"/>
            <a:ext cx="5394960" cy="548640"/>
          </a:xfrm>
          <a:prstGeom prst="roundRect">
            <a:avLst>
              <a:gd name="adj" fmla="val 20000"/>
            </a:avLst>
          </a:prstGeom>
          <a:solidFill>
            <a:srgbClr val="D9D3F0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i="0">
                <a:solidFill>
                  <a:srgbClr val="14142B"/>
                </a:solidFill>
                <a:latin typeface="Calibri"/>
                <a:cs typeface="Calibri"/>
              </a:rPr>
              <a:t>Cache miss: full pipeline, ~4.3 s cold P95</a:t>
            </a:r>
          </a:p>
        </p:txBody>
      </p:sp>
      <p:sp>
        <p:nvSpPr>
          <p:cNvPr id="330" name="S330"/>
          <p:cNvSpPr txBox="1"/>
          <p:nvPr/>
        </p:nvSpPr>
        <p:spPr>
          <a:xfrm>
            <a:off x="457200" y="5669280"/>
            <a:ext cx="10972800" cy="5943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Strict APIResponse envelope (Appendix A JSON schema): query, query_variations, contexts, meta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331" name="S331"/>
          <p:cNvSpPr txBox="1"/>
          <p:nvPr/>
        </p:nvSpPr>
        <p:spPr>
          <a:xfrm>
            <a:off x="685800" y="1188720"/>
            <a:ext cx="3108960" cy="5303520"/>
          </a:xfrm>
          <a:prstGeom prst="roundRect">
            <a:avLst>
              <a:gd name="adj" fmla="val 9000"/>
            </a:avLst>
          </a:prstGeom>
          <a:solidFill>
            <a:srgbClr val="14142B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50" name="S350"/>
          <p:cNvSpPr txBox="1"/>
          <p:nvPr/>
        </p:nvSpPr>
        <p:spPr>
          <a:xfrm>
            <a:off x="4297680" y="128016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51" name="S351"/>
          <p:cNvSpPr txBox="1"/>
          <p:nvPr/>
        </p:nvSpPr>
        <p:spPr>
          <a:xfrm>
            <a:off x="4937760" y="1188720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Grouped action cards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350" b="0" i="0">
                <a:solidFill>
                  <a:srgbClr val="63637E"/>
                </a:solidFill>
                <a:latin typeface="Calibri"/>
                <a:cs typeface="Calibri"/>
              </a:rPr>
              <a:t>One card per detected problem, so a composite complaint (Wi-Fi + battery) yields a Battery card and a Wi-Fi card in one plan.</a:t>
            </a:r>
          </a:p>
        </p:txBody>
      </p:sp>
      <p:sp>
        <p:nvSpPr>
          <p:cNvPr id="352" name="S352"/>
          <p:cNvSpPr txBox="1"/>
          <p:nvPr/>
        </p:nvSpPr>
        <p:spPr>
          <a:xfrm>
            <a:off x="4297680" y="2633472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53" name="S353"/>
          <p:cNvSpPr txBox="1"/>
          <p:nvPr/>
        </p:nvSpPr>
        <p:spPr>
          <a:xfrm>
            <a:off x="4937760" y="2542032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Tri-category actions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350" b="0" i="0">
                <a:solidFill>
                  <a:srgbClr val="63637E"/>
                </a:solidFill>
                <a:latin typeface="Calibri"/>
                <a:cs typeface="Calibri"/>
              </a:rPr>
              <a:t>Steps are sorted auto → manual → critical with colour-coded badges; critical steps carry a distinct warning.</a:t>
            </a:r>
          </a:p>
        </p:txBody>
      </p:sp>
      <p:sp>
        <p:nvSpPr>
          <p:cNvPr id="354" name="S354"/>
          <p:cNvSpPr txBox="1"/>
          <p:nvPr/>
        </p:nvSpPr>
        <p:spPr>
          <a:xfrm>
            <a:off x="4297680" y="3986784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55" name="S355"/>
          <p:cNvSpPr txBox="1"/>
          <p:nvPr/>
        </p:nvSpPr>
        <p:spPr>
          <a:xfrm>
            <a:off x="4937760" y="3895344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Actionable deeplinks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350" b="0" i="0">
                <a:solidFill>
                  <a:srgbClr val="63637E"/>
                </a:solidFill>
                <a:latin typeface="Calibri"/>
                <a:cs typeface="Calibri"/>
              </a:rPr>
              <a:t>A single tap opens the exact Settings screen, e.g. “Wi-Fi Settings” → bixby://com.samsung.android.settings.connections.wifi. Manual steps show no button.</a:t>
            </a:r>
          </a:p>
        </p:txBody>
      </p:sp>
      <p:sp>
        <p:nvSpPr>
          <p:cNvPr id="356" name="S356"/>
          <p:cNvSpPr txBox="1"/>
          <p:nvPr/>
        </p:nvSpPr>
        <p:spPr>
          <a:xfrm>
            <a:off x="4297680" y="534009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57" name="S357"/>
          <p:cNvSpPr txBox="1"/>
          <p:nvPr/>
        </p:nvSpPr>
        <p:spPr>
          <a:xfrm>
            <a:off x="4937760" y="5248656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>
                <a:solidFill>
                  <a:srgbClr val="6D28D9"/>
                </a:solidFill>
                <a:latin typeface="Calibri"/>
                <a:cs typeface="Calibri"/>
              </a:rPr>
              <a:t>Live diagnostics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350" b="0" i="0">
                <a:solidFill>
                  <a:srgbClr val="63637E"/>
                </a:solidFill>
                <a:latin typeface="Calibri"/>
                <a:cs typeface="Calibri"/>
              </a:rPr>
              <a:t>Latency badge flashes green on cache hit and amber on miss; a drawer shows model and request cost.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A632A-B3F0-1C19-5110-EF08EACA6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1" y="1005840"/>
            <a:ext cx="3200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358" name="S358"/>
          <p:cNvSpPr txBox="1"/>
          <p:nvPr/>
        </p:nvSpPr>
        <p:spPr>
          <a:xfrm>
            <a:off x="685800" y="137160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Python 3.10+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Core language for the engine</a:t>
            </a:r>
          </a:p>
        </p:txBody>
      </p:sp>
      <p:sp>
        <p:nvSpPr>
          <p:cNvPr id="359" name="S359"/>
          <p:cNvSpPr txBox="1"/>
          <p:nvPr/>
        </p:nvSpPr>
        <p:spPr>
          <a:xfrm>
            <a:off x="3410712" y="137160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FastAPI + Uvicorn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Async REST API, Swagger docs, ASGI server</a:t>
            </a:r>
          </a:p>
        </p:txBody>
      </p:sp>
      <p:sp>
        <p:nvSpPr>
          <p:cNvPr id="360" name="S360"/>
          <p:cNvSpPr txBox="1"/>
          <p:nvPr/>
        </p:nvSpPr>
        <p:spPr>
          <a:xfrm>
            <a:off x="6135624" y="137160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Pydantic v2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Strict Appendix A schema validation</a:t>
            </a:r>
          </a:p>
        </p:txBody>
      </p:sp>
      <p:sp>
        <p:nvSpPr>
          <p:cNvPr id="361" name="S361"/>
          <p:cNvSpPr txBox="1"/>
          <p:nvPr/>
        </p:nvSpPr>
        <p:spPr>
          <a:xfrm>
            <a:off x="8860536" y="137160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Groq API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Llama 3 / gpt-oss-20b via OpenAI-compatible SDK</a:t>
            </a:r>
          </a:p>
        </p:txBody>
      </p:sp>
      <p:sp>
        <p:nvSpPr>
          <p:cNvPr id="362" name="S362"/>
          <p:cNvSpPr txBox="1"/>
          <p:nvPr/>
        </p:nvSpPr>
        <p:spPr>
          <a:xfrm>
            <a:off x="685800" y="352044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SentenceTransformers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all-MiniLM-L6-v2, 384-dim embeddings</a:t>
            </a:r>
          </a:p>
        </p:txBody>
      </p:sp>
      <p:sp>
        <p:nvSpPr>
          <p:cNvPr id="363" name="S363"/>
          <p:cNvSpPr txBox="1"/>
          <p:nvPr/>
        </p:nvSpPr>
        <p:spPr>
          <a:xfrm>
            <a:off x="3410712" y="352044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ChromaDB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Local vector store for deeplink + intent search</a:t>
            </a:r>
          </a:p>
        </p:txBody>
      </p:sp>
      <p:sp>
        <p:nvSpPr>
          <p:cNvPr id="364" name="S364"/>
          <p:cNvSpPr txBox="1"/>
          <p:nvPr/>
        </p:nvSpPr>
        <p:spPr>
          <a:xfrm>
            <a:off x="6135624" y="352044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Rank-BM25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Lexical retrieval fused with vector search</a:t>
            </a:r>
          </a:p>
        </p:txBody>
      </p:sp>
      <p:sp>
        <p:nvSpPr>
          <p:cNvPr id="365" name="S365"/>
          <p:cNvSpPr txBox="1"/>
          <p:nvPr/>
        </p:nvSpPr>
        <p:spPr>
          <a:xfrm>
            <a:off x="8860536" y="3520440"/>
            <a:ext cx="2542032" cy="1965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82880" tIns="182880" rIns="182880" bIns="18288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>
                <a:solidFill>
                  <a:srgbClr val="6D28D9"/>
                </a:solidFill>
                <a:latin typeface="Calibri"/>
                <a:cs typeface="Calibri"/>
              </a:rPr>
              <a:t>DiskCache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500" b="0" i="0">
                <a:solidFill>
                  <a:srgbClr val="63637E"/>
                </a:solidFill>
                <a:latin typeface="Calibri"/>
                <a:cs typeface="Calibri"/>
              </a:rPr>
              <a:t>Persistent multi-tier semantic cache</a:t>
            </a:r>
          </a:p>
        </p:txBody>
      </p:sp>
      <p:sp>
        <p:nvSpPr>
          <p:cNvPr id="366" name="S366"/>
          <p:cNvSpPr txBox="1"/>
          <p:nvPr/>
        </p:nvSpPr>
        <p:spPr>
          <a:xfrm>
            <a:off x="685800" y="5715000"/>
            <a:ext cx="10817352" cy="5943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Frontend: vanilla HTML5 / CSS3 / JS One UI client   |   Evaluation: httpx benchmark suite (20 scenarios)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367" name="S367"/>
          <p:cNvSpPr txBox="1"/>
          <p:nvPr/>
        </p:nvSpPr>
        <p:spPr>
          <a:xfrm>
            <a:off x="685800" y="1371600"/>
            <a:ext cx="3337560" cy="17373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b="1" i="0">
                <a:solidFill>
                  <a:srgbClr val="6D28D9"/>
                </a:solidFill>
                <a:latin typeface="Calibri"/>
                <a:cs typeface="Calibri"/>
              </a:rPr>
              <a:t>Vague complaint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600" b="0" i="0">
                <a:solidFill>
                  <a:srgbClr val="63637E"/>
                </a:solidFill>
                <a:latin typeface="Calibri"/>
                <a:cs typeface="Calibri"/>
              </a:rPr>
              <a:t>“My Wi-Fi keeps disconnecting and battery drains fast”</a:t>
            </a:r>
          </a:p>
        </p:txBody>
      </p:sp>
      <p:sp>
        <p:nvSpPr>
          <p:cNvPr id="368" name="S368"/>
          <p:cNvSpPr txBox="1"/>
          <p:nvPr/>
        </p:nvSpPr>
        <p:spPr>
          <a:xfrm>
            <a:off x="4050792" y="2103120"/>
            <a:ext cx="365760" cy="320040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69" name="S369"/>
          <p:cNvSpPr txBox="1"/>
          <p:nvPr/>
        </p:nvSpPr>
        <p:spPr>
          <a:xfrm>
            <a:off x="4434840" y="1371600"/>
            <a:ext cx="3337560" cy="17373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b="1" i="0">
                <a:solidFill>
                  <a:srgbClr val="6D28D9"/>
                </a:solidFill>
                <a:latin typeface="Calibri"/>
                <a:cs typeface="Calibri"/>
              </a:rPr>
              <a:t>Grounded plan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600" b="0" i="0">
                <a:solidFill>
                  <a:srgbClr val="63637E"/>
                </a:solidFill>
                <a:latin typeface="Calibri"/>
                <a:cs typeface="Calibri"/>
              </a:rPr>
              <a:t>Matched to Samsung SIIS scenarios; steps sorted and validated</a:t>
            </a:r>
          </a:p>
        </p:txBody>
      </p:sp>
      <p:sp>
        <p:nvSpPr>
          <p:cNvPr id="370" name="S370"/>
          <p:cNvSpPr txBox="1"/>
          <p:nvPr/>
        </p:nvSpPr>
        <p:spPr>
          <a:xfrm>
            <a:off x="7799832" y="2103120"/>
            <a:ext cx="365760" cy="320040"/>
          </a:xfrm>
          <a:prstGeom prst="rightArrow">
            <a:avLst/>
          </a:prstGeom>
          <a:solidFill>
            <a:srgbClr val="B9A6EA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371" name="S371"/>
          <p:cNvSpPr txBox="1"/>
          <p:nvPr/>
        </p:nvSpPr>
        <p:spPr>
          <a:xfrm>
            <a:off x="8183880" y="1371600"/>
            <a:ext cx="3337560" cy="17373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b="1" i="0">
                <a:solidFill>
                  <a:srgbClr val="FFFFFF"/>
                </a:solidFill>
                <a:latin typeface="Calibri"/>
                <a:cs typeface="Calibri"/>
              </a:rPr>
              <a:t>One-click fix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600" b="0" i="0">
                <a:solidFill>
                  <a:srgbClr val="FFFFFF"/>
                </a:solidFill>
                <a:latin typeface="Calibri"/>
                <a:cs typeface="Calibri"/>
              </a:rPr>
              <a:t>Deeplink buttons open the exact Settings screen</a:t>
            </a:r>
          </a:p>
        </p:txBody>
      </p:sp>
      <p:sp>
        <p:nvSpPr>
          <p:cNvPr id="372" name="S372"/>
          <p:cNvSpPr txBox="1"/>
          <p:nvPr/>
        </p:nvSpPr>
        <p:spPr>
          <a:xfrm>
            <a:off x="685800" y="342900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b="1" i="0">
                <a:solidFill>
                  <a:srgbClr val="6D28D9"/>
                </a:solidFill>
                <a:latin typeface="Calibri"/>
                <a:cs typeface="Calibri"/>
              </a:rPr>
              <a:t>~15 min → ~4 s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700" b="0" i="0">
                <a:solidFill>
                  <a:srgbClr val="63637E"/>
                </a:solidFill>
                <a:latin typeface="Calibri"/>
                <a:cs typeface="Calibri"/>
              </a:rPr>
              <a:t>Agent translation replaced by a cold-start plan (P95 4.3 s); repeat queries return in ~1 ms.</a:t>
            </a:r>
          </a:p>
        </p:txBody>
      </p:sp>
      <p:sp>
        <p:nvSpPr>
          <p:cNvPr id="373" name="S373"/>
          <p:cNvSpPr txBox="1"/>
          <p:nvPr/>
        </p:nvSpPr>
        <p:spPr>
          <a:xfrm>
            <a:off x="4434840" y="342900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b="1" i="0">
                <a:solidFill>
                  <a:srgbClr val="6D28D9"/>
                </a:solidFill>
                <a:latin typeface="Calibri"/>
                <a:cs typeface="Calibri"/>
              </a:rPr>
              <a:t>Self-service for users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700" b="0" i="0">
                <a:solidFill>
                  <a:srgbClr val="63637E"/>
                </a:solidFill>
                <a:latin typeface="Calibri"/>
                <a:cs typeface="Calibri"/>
              </a:rPr>
              <a:t>No menu hunting: every actionable step is one tap away.</a:t>
            </a:r>
          </a:p>
        </p:txBody>
      </p:sp>
      <p:sp>
        <p:nvSpPr>
          <p:cNvPr id="374" name="S374"/>
          <p:cNvSpPr txBox="1"/>
          <p:nvPr/>
        </p:nvSpPr>
        <p:spPr>
          <a:xfrm>
            <a:off x="8183880" y="342900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b="1" i="0">
                <a:solidFill>
                  <a:srgbClr val="6D28D9"/>
                </a:solidFill>
                <a:latin typeface="Calibri"/>
                <a:cs typeface="Calibri"/>
              </a:rPr>
              <a:t>Consistent and safe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700" b="0" i="0">
                <a:solidFill>
                  <a:srgbClr val="63637E"/>
                </a:solidFill>
                <a:latin typeface="Calibri"/>
                <a:cs typeface="Calibri"/>
              </a:rPr>
              <a:t>Same contract-valid plan every time; critical actions flagged, preconditions attached, zero URL leaks.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375" name="S375"/>
          <p:cNvSpPr txBox="1"/>
          <p:nvPr/>
        </p:nvSpPr>
        <p:spPr>
          <a:xfrm>
            <a:off x="685800" y="1280160"/>
            <a:ext cx="3520440" cy="45720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cs typeface="Calibri"/>
              </a:rPr>
              <a:t>Innovation highlights</a:t>
            </a:r>
          </a:p>
        </p:txBody>
      </p:sp>
      <p:sp>
        <p:nvSpPr>
          <p:cNvPr id="376" name="S376"/>
          <p:cNvSpPr txBox="1"/>
          <p:nvPr/>
        </p:nvSpPr>
        <p:spPr>
          <a:xfrm>
            <a:off x="685800" y="1828800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Keyword-overlap context finder: normalized, punctuation-stripped tokens + domain boosts feed dense + BM25 retrieval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Strict JSON derivation rules: goal regex, 2–3 word titles, “It will…” descriptions, 8–10 variations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Multi-tier semantic cache with sub-2 ms fast path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Multi-intent complaints resolved in one plan</a:t>
            </a:r>
          </a:p>
        </p:txBody>
      </p:sp>
      <p:sp>
        <p:nvSpPr>
          <p:cNvPr id="377" name="S377"/>
          <p:cNvSpPr txBox="1"/>
          <p:nvPr/>
        </p:nvSpPr>
        <p:spPr>
          <a:xfrm>
            <a:off x="4480560" y="1280160"/>
            <a:ext cx="3520440" cy="457200"/>
          </a:xfrm>
          <a:prstGeom prst="roundRect">
            <a:avLst>
              <a:gd name="adj" fmla="val 15000"/>
            </a:avLst>
          </a:prstGeom>
          <a:solidFill>
            <a:srgbClr val="12805F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378" name="S378"/>
          <p:cNvSpPr txBox="1"/>
          <p:nvPr/>
        </p:nvSpPr>
        <p:spPr>
          <a:xfrm>
            <a:off x="4480560" y="1828800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Cache hit: 0.8 ms P50, 1.7 ms P95 (target ≤ 300 ms)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Cold start: 4,279 ms P95 (target ≤ 8,000 ms)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20 / 20 scenarios covered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100% Appendix A schema compliance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0 URL leaks; 100% cache and paraphrase hit rate</a:t>
            </a:r>
          </a:p>
        </p:txBody>
      </p:sp>
      <p:sp>
        <p:nvSpPr>
          <p:cNvPr id="379" name="S379"/>
          <p:cNvSpPr txBox="1"/>
          <p:nvPr/>
        </p:nvSpPr>
        <p:spPr>
          <a:xfrm>
            <a:off x="8275320" y="1280160"/>
            <a:ext cx="3520440" cy="4572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cs typeface="Calibri"/>
              </a:rPr>
              <a:t>Limitations</a:t>
            </a:r>
          </a:p>
        </p:txBody>
      </p:sp>
      <p:sp>
        <p:nvSpPr>
          <p:cNvPr id="380" name="S380"/>
          <p:cNvSpPr txBox="1"/>
          <p:nvPr/>
        </p:nvSpPr>
        <p:spPr>
          <a:xfrm>
            <a:off x="8275320" y="1828800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marL="171450" indent="-171450" algn="l">
              <a:spcBef>
                <a:spcPts val="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Knowledge base covers 20 SIIS scenarios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Cold-start latency (~4 s) is LLM-bound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Rule-based fallback is less rich than LLM output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Preconditions are declared, not read from a live device</a:t>
            </a:r>
          </a:p>
          <a:p>
            <a:pPr marL="171450" indent="-171450" algn="l">
              <a:spcBef>
                <a:spcPts val="1000"/>
              </a:spcBef>
              <a:buClr>
                <a:srgbClr val="6D28D9"/>
              </a:buClr>
              <a:buChar char="•"/>
            </a:pPr>
            <a:r>
              <a:rPr lang="en-US" sz="1500" b="0" i="0">
                <a:solidFill>
                  <a:srgbClr val="14142B"/>
                </a:solidFill>
                <a:latin typeface="Calibri"/>
                <a:cs typeface="Calibri"/>
              </a:rPr>
              <a:t>Cache thresholds (0.70 / 0.74) are tuned on a small 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381" name="S381"/>
          <p:cNvSpPr txBox="1"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82" name="S382"/>
          <p:cNvSpPr txBox="1"/>
          <p:nvPr/>
        </p:nvSpPr>
        <p:spPr>
          <a:xfrm>
            <a:off x="1417320" y="137160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Wider knowledge base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800" b="0" i="0">
                <a:solidFill>
                  <a:srgbClr val="63637E"/>
                </a:solidFill>
                <a:latin typeface="Calibri"/>
                <a:cs typeface="Calibri"/>
              </a:rPr>
              <a:t>Grow beyond 20 SIIS scenarios and expand the Bixby deeplink catalog.</a:t>
            </a:r>
          </a:p>
        </p:txBody>
      </p:sp>
      <p:sp>
        <p:nvSpPr>
          <p:cNvPr id="383" name="S383"/>
          <p:cNvSpPr txBox="1"/>
          <p:nvPr/>
        </p:nvSpPr>
        <p:spPr>
          <a:xfrm>
            <a:off x="6172200" y="14173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84" name="S384"/>
          <p:cNvSpPr txBox="1"/>
          <p:nvPr/>
        </p:nvSpPr>
        <p:spPr>
          <a:xfrm>
            <a:off x="6903720" y="137160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Live device state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800" b="0" i="0">
                <a:solidFill>
                  <a:srgbClr val="63637E"/>
                </a:solidFill>
                <a:latin typeface="Calibri"/>
                <a:cs typeface="Calibri"/>
              </a:rPr>
              <a:t>Evaluate preconditions (wifi_enabled, brightness) against the real device before showing a step.</a:t>
            </a:r>
          </a:p>
        </p:txBody>
      </p:sp>
      <p:sp>
        <p:nvSpPr>
          <p:cNvPr id="385" name="S385"/>
          <p:cNvSpPr txBox="1"/>
          <p:nvPr/>
        </p:nvSpPr>
        <p:spPr>
          <a:xfrm>
            <a:off x="685800" y="388620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86" name="S386"/>
          <p:cNvSpPr txBox="1"/>
          <p:nvPr/>
        </p:nvSpPr>
        <p:spPr>
          <a:xfrm>
            <a:off x="1417320" y="384048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Multilingual complaints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800" b="0" i="0">
                <a:solidFill>
                  <a:srgbClr val="63637E"/>
                </a:solidFill>
                <a:latin typeface="Calibri"/>
                <a:cs typeface="Calibri"/>
              </a:rPr>
              <a:t>Accept and answer in regional languages, starting with Indian languages.</a:t>
            </a:r>
          </a:p>
        </p:txBody>
      </p:sp>
      <p:sp>
        <p:nvSpPr>
          <p:cNvPr id="387" name="S387"/>
          <p:cNvSpPr txBox="1"/>
          <p:nvPr/>
        </p:nvSpPr>
        <p:spPr>
          <a:xfrm>
            <a:off x="6172200" y="388620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88" name="S388"/>
          <p:cNvSpPr txBox="1"/>
          <p:nvPr/>
        </p:nvSpPr>
        <p:spPr>
          <a:xfrm>
            <a:off x="6903720" y="384048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>
                <a:solidFill>
                  <a:srgbClr val="6D28D9"/>
                </a:solidFill>
                <a:latin typeface="Calibri"/>
                <a:cs typeface="Calibri"/>
              </a:rPr>
              <a:t>Agent-assist and feedback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800" b="0" i="0">
                <a:solidFill>
                  <a:srgbClr val="63637E"/>
                </a:solidFill>
                <a:latin typeface="Calibri"/>
                <a:cs typeface="Calibri"/>
              </a:rPr>
              <a:t>Plug into agent tooling and learn from “did it fix it?” signals to rerank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59436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 (differentiation)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389" name="S389"/>
          <p:cNvSpPr txBox="1"/>
          <p:nvPr/>
        </p:nvSpPr>
        <p:spPr>
          <a:xfrm>
            <a:off x="685800" y="146304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600" b="1" i="0">
                <a:solidFill>
                  <a:srgbClr val="FFFFFF"/>
                </a:solidFill>
                <a:latin typeface="Calibri"/>
                <a:cs typeface="Calibri"/>
              </a:rPr>
              <a:t>Model-agnostic LLM layer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0" i="0">
                <a:solidFill>
                  <a:srgbClr val="FFFFFF"/>
                </a:solidFill>
                <a:latin typeface="Calibri"/>
                <a:cs typeface="Calibri"/>
              </a:rPr>
              <a:t>Built on an OpenAI-compatible client: Groq (Llama 3 / gpt-oss-20b) today, and a Gemini or Mistral endpoint only needs a base URL and model name.</a:t>
            </a:r>
          </a:p>
        </p:txBody>
      </p:sp>
      <p:sp>
        <p:nvSpPr>
          <p:cNvPr id="390" name="S390"/>
          <p:cNvSpPr txBox="1"/>
          <p:nvPr/>
        </p:nvSpPr>
        <p:spPr>
          <a:xfrm>
            <a:off x="4434840" y="146304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56032" tIns="256032" rIns="256032" bIns="256032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600" b="1" i="0">
                <a:solidFill>
                  <a:srgbClr val="6D28D9"/>
                </a:solidFill>
                <a:latin typeface="Calibri"/>
                <a:cs typeface="Calibri"/>
              </a:rPr>
              <a:t>Zero-fail fallback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0" i="0">
                <a:solidFill>
                  <a:srgbClr val="63637E"/>
                </a:solidFill>
                <a:latin typeface="Calibri"/>
                <a:cs typeface="Calibri"/>
              </a:rPr>
              <a:t>On API timeout or 429, a deterministic local extractor keeps returning contract-valid plans.</a:t>
            </a:r>
          </a:p>
        </p:txBody>
      </p:sp>
      <p:sp>
        <p:nvSpPr>
          <p:cNvPr id="391" name="S391"/>
          <p:cNvSpPr txBox="1"/>
          <p:nvPr/>
        </p:nvSpPr>
        <p:spPr>
          <a:xfrm>
            <a:off x="8183880" y="146304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 w="12700">
            <a:solidFill>
              <a:srgbClr val="D9D3F0"/>
            </a:solidFill>
          </a:ln>
        </p:spPr>
        <p:txBody>
          <a:bodyPr wrap="square" lIns="256032" tIns="256032" rIns="256032" bIns="256032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600" b="1" i="0">
                <a:solidFill>
                  <a:srgbClr val="6D28D9"/>
                </a:solidFill>
                <a:latin typeface="Calibri"/>
                <a:cs typeface="Calibri"/>
              </a:rPr>
              <a:t>Contract-perfect output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0" i="0">
                <a:solidFill>
                  <a:srgbClr val="63637E"/>
                </a:solidFill>
                <a:latin typeface="Calibri"/>
                <a:cs typeface="Calibri"/>
              </a:rPr>
              <a:t>Gate G5 URL scrubbing and Blocks A1 / A2 / A5 enforced in code, not left to the LLM.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- 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- 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 - 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- Y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 (differentiation)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Hari Prannav</cp:lastModifiedBy>
  <cp:revision>1</cp:revision>
  <dcterms:created xsi:type="dcterms:W3CDTF">2026-09-07T12:01:01Z</dcterms:created>
  <dcterms:modified xsi:type="dcterms:W3CDTF">2026-09-30T16:24:24Z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